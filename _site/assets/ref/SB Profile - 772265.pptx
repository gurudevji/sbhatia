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8" r:id="rId2"/>
  </p:sldMasterIdLst>
  <p:notesMasterIdLst>
    <p:notesMasterId r:id="rId6"/>
  </p:notesMasterIdLst>
  <p:handoutMasterIdLst>
    <p:handoutMasterId r:id="rId7"/>
  </p:handoutMasterIdLst>
  <p:sldIdLst>
    <p:sldId id="306" r:id="rId3"/>
    <p:sldId id="307" r:id="rId4"/>
    <p:sldId id="308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orient="horz" pos="3975">
          <p15:clr>
            <a:srgbClr val="A4A3A4"/>
          </p15:clr>
        </p15:guide>
        <p15:guide id="3" orient="horz" pos="104">
          <p15:clr>
            <a:srgbClr val="A4A3A4"/>
          </p15:clr>
        </p15:guide>
        <p15:guide id="4" pos="68">
          <p15:clr>
            <a:srgbClr val="A4A3A4"/>
          </p15:clr>
        </p15:guide>
        <p15:guide id="5" pos="56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9BD"/>
    <a:srgbClr val="6D6E71"/>
    <a:srgbClr val="8DC53E"/>
    <a:srgbClr val="E6D000"/>
    <a:srgbClr val="FFF157"/>
    <a:srgbClr val="E29C00"/>
    <a:srgbClr val="FFB914"/>
    <a:srgbClr val="C412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9462" autoAdjust="0"/>
  </p:normalViewPr>
  <p:slideViewPr>
    <p:cSldViewPr snapToGrid="0" snapToObjects="1">
      <p:cViewPr>
        <p:scale>
          <a:sx n="80" d="100"/>
          <a:sy n="80" d="100"/>
        </p:scale>
        <p:origin x="-1644" y="-348"/>
      </p:cViewPr>
      <p:guideLst>
        <p:guide orient="horz" pos="2160"/>
        <p:guide orient="horz" pos="3975"/>
        <p:guide orient="horz" pos="104"/>
        <p:guide pos="68"/>
        <p:guide pos="56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B0668DF3-100D-43EE-8722-B74743D9494B}" type="datetimeFigureOut">
              <a:rPr lang="en-GB"/>
              <a:pPr>
                <a:defRPr/>
              </a:pPr>
              <a:t>18/10/2017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3224F57D-A767-4CAB-B412-D083C236CFB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1973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DBFD47D7-44DF-4F12-AAC3-363DFC7F2707}" type="datetimeFigureOut">
              <a:rPr lang="en-GB"/>
              <a:pPr>
                <a:defRPr/>
              </a:pPr>
              <a:t>18/10/2017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FA889DB9-C244-42E6-B33E-E97ABB9F4F3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97268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889DB9-C244-42E6-B33E-E97ABB9F4F30}" type="slidenum">
              <a:rPr lang="en-GB" smtClean="0"/>
              <a:pPr>
                <a:defRPr/>
              </a:pPr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1223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889DB9-C244-42E6-B33E-E97ABB9F4F30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6042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889DB9-C244-42E6-B33E-E97ABB9F4F30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6042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 userDrawn="1"/>
        </p:nvSpPr>
        <p:spPr bwMode="gray">
          <a:xfrm>
            <a:off x="0" y="6333066"/>
            <a:ext cx="9144000" cy="546105"/>
          </a:xfrm>
          <a:prstGeom prst="rect">
            <a:avLst/>
          </a:prstGeom>
          <a:gradFill flip="none" rotWithShape="1">
            <a:gsLst>
              <a:gs pos="51000">
                <a:srgbClr val="6D6E71"/>
              </a:gs>
              <a:gs pos="0">
                <a:schemeClr val="tx2">
                  <a:lumMod val="95000"/>
                  <a:lumOff val="5000"/>
                </a:schemeClr>
              </a:gs>
              <a:gs pos="81000">
                <a:schemeClr val="tx2">
                  <a:lumMod val="95000"/>
                  <a:lumOff val="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9525">
            <a:noFill/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aseline="-250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5" name="Picture 9" descr="BTE_logo1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12063" y="6492875"/>
            <a:ext cx="140652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2" descr="LOGOO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163" y="6451600"/>
            <a:ext cx="768350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13"/>
          <p:cNvSpPr txBox="1">
            <a:spLocks/>
          </p:cNvSpPr>
          <p:nvPr userDrawn="1"/>
        </p:nvSpPr>
        <p:spPr bwMode="gray">
          <a:xfrm>
            <a:off x="4327525" y="6446838"/>
            <a:ext cx="549275" cy="365125"/>
          </a:xfrm>
          <a:prstGeom prst="rect">
            <a:avLst/>
          </a:prstGeom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dirty="0">
                <a:solidFill>
                  <a:schemeClr val="bg1"/>
                </a:solidFill>
                <a:latin typeface="+mn-lt"/>
                <a:cs typeface="+mn-cs"/>
              </a:rPr>
              <a:t>Slide </a:t>
            </a:r>
            <a:fld id="{BE79F96D-7B8C-43F8-B3AA-671CC3C2B4F5}" type="slidenum">
              <a:rPr lang="en-US" sz="70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700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685800" y="1661023"/>
            <a:ext cx="7772400" cy="1142231"/>
          </a:xfrm>
        </p:spPr>
        <p:txBody>
          <a:bodyPr anchor="b">
            <a:noAutofit/>
          </a:bodyPr>
          <a:lstStyle>
            <a:lvl1pPr algn="ctr">
              <a:defRPr sz="2300" b="1">
                <a:solidFill>
                  <a:srgbClr val="00B0F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371600" y="2965351"/>
            <a:ext cx="6400800" cy="1485735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b="1" kern="1200" dirty="0">
                <a:solidFill>
                  <a:srgbClr val="00B0F0"/>
                </a:solidFill>
                <a:latin typeface="Arial"/>
                <a:ea typeface="+mj-ea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CDF71C47-E1A5-4D89-A93B-954EA9134AD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Infosys_gradient_w_pattern.jpg"/>
          <p:cNvPicPr>
            <a:picLocks noChangeAspect="1"/>
          </p:cNvPicPr>
          <p:nvPr userDrawn="1"/>
        </p:nvPicPr>
        <p:blipFill>
          <a:blip r:embed="rId2" cstate="print"/>
          <a:srcRect t="2010" b="5804"/>
          <a:stretch>
            <a:fillRect/>
          </a:stretch>
        </p:blipFill>
        <p:spPr bwMode="auto">
          <a:xfrm>
            <a:off x="0" y="0"/>
            <a:ext cx="9144000" cy="632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1990725" y="665163"/>
            <a:ext cx="5162550" cy="22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100" spc="100" dirty="0">
                <a:latin typeface="Arial" pitchFamily="34" charset="0"/>
                <a:cs typeface="Arial" pitchFamily="34" charset="0"/>
              </a:rPr>
              <a:t>RESPONSE TO REQUEST FOR PROPOSAL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61023"/>
            <a:ext cx="7772400" cy="1142231"/>
          </a:xfrm>
        </p:spPr>
        <p:txBody>
          <a:bodyPr anchor="b">
            <a:noAutofit/>
          </a:bodyPr>
          <a:lstStyle>
            <a:lvl1pPr algn="ctr">
              <a:defRPr sz="2300" b="1">
                <a:solidFill>
                  <a:srgbClr val="00B0F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65351"/>
            <a:ext cx="6400800" cy="1485735"/>
          </a:xfrm>
        </p:spPr>
        <p:txBody>
          <a:bodyPr>
            <a:normAutofit/>
          </a:bodyPr>
          <a:lstStyle>
            <a:lvl1pPr marL="0" indent="0" algn="ctr">
              <a:buNone/>
              <a:defRPr sz="1800" i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68BB4E16-9C0D-4298-A28F-94BD6231BE0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3"/>
          <p:cNvSpPr txBox="1">
            <a:spLocks/>
          </p:cNvSpPr>
          <p:nvPr userDrawn="1"/>
        </p:nvSpPr>
        <p:spPr bwMode="gray">
          <a:xfrm>
            <a:off x="4327525" y="6446838"/>
            <a:ext cx="549275" cy="365125"/>
          </a:xfrm>
          <a:prstGeom prst="rect">
            <a:avLst/>
          </a:prstGeom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dirty="0" smtClean="0">
                <a:solidFill>
                  <a:schemeClr val="bg1"/>
                </a:solidFill>
                <a:latin typeface="+mn-lt"/>
                <a:cs typeface="+mn-cs"/>
              </a:rPr>
              <a:t> </a:t>
            </a:r>
            <a:fld id="{3B368F33-DA07-4B8E-9E33-419D9C9788DF}" type="slidenum">
              <a:rPr lang="en-US" sz="70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700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8DF2A6FA-CE1D-4D02-AB2B-39753F10DD3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67617"/>
            <a:ext cx="4038600" cy="5057759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67617"/>
            <a:ext cx="4038600" cy="5057759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91F52A-7E2B-404D-82FE-C8725BAB9CD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- black &amp; white eff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4648200" y="1167617"/>
            <a:ext cx="4038600" cy="5071829"/>
          </a:xfrm>
          <a:noFill/>
          <a:ln w="12700">
            <a:solidFill>
              <a:schemeClr val="tx2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95250" prst="coolSlant"/>
          </a:sp3d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67955"/>
            <a:ext cx="4038600" cy="5071489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2BA845-F297-47AE-8D29-C5910618EE4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</p:spPr>
        <p:txBody>
          <a:bodyPr/>
          <a:lstStyle>
            <a:lvl1pPr>
              <a:defRPr sz="22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41759"/>
          </a:xfrm>
        </p:spPr>
        <p:txBody>
          <a:bodyPr anchor="ctr"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58496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535112"/>
            <a:ext cx="4041775" cy="741759"/>
          </a:xfrm>
        </p:spPr>
        <p:txBody>
          <a:bodyPr anchor="ctr"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2358496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1EA4F-FCE4-48AF-A512-11E1BFA8C1B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 rot="5400000">
            <a:off x="2182813" y="3922713"/>
            <a:ext cx="4775200" cy="0"/>
          </a:xfrm>
          <a:prstGeom prst="line">
            <a:avLst/>
          </a:prstGeom>
          <a:ln w="15875" cap="rnd">
            <a:solidFill>
              <a:schemeClr val="tx2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</p:spPr>
        <p:txBody>
          <a:bodyPr/>
          <a:lstStyle>
            <a:lvl1pPr>
              <a:defRPr sz="22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41759"/>
          </a:xfrm>
        </p:spPr>
        <p:txBody>
          <a:bodyPr anchor="ctr"/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58496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3771392"/>
            <a:ext cx="4041775" cy="253839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4645028" y="1534584"/>
            <a:ext cx="4041775" cy="2131144"/>
          </a:xfrm>
          <a:noFill/>
          <a:ln w="12700">
            <a:solidFill>
              <a:schemeClr val="tx2">
                <a:lumMod val="50000"/>
                <a:lumOff val="50000"/>
              </a:schemeClr>
            </a:solidFill>
          </a:ln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95250" prst="coolSlant"/>
          </a:sp3d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B9DC2037-62C6-4E55-BCED-DA62A184962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ln w="12700">
            <a:solidFill>
              <a:schemeClr val="tx2">
                <a:lumMod val="50000"/>
                <a:lumOff val="50000"/>
              </a:schemeClr>
            </a:solidFill>
          </a:ln>
          <a:effectLst>
            <a:outerShdw blurRad="165100" dist="101600" dir="5400000" algn="t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>
            <a:bevelT w="95250" prst="coolSlant"/>
          </a:sp3d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79E96A-6E5A-4C63-B154-9C061F3ABAB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A5E879-A5FB-4081-848F-F93CF6B349F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 txBox="1">
            <a:spLocks/>
          </p:cNvSpPr>
          <p:nvPr userDrawn="1"/>
        </p:nvSpPr>
        <p:spPr bwMode="gray">
          <a:xfrm>
            <a:off x="4556125" y="6599238"/>
            <a:ext cx="336550" cy="365125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CD2A894A-20B5-4BC0-8FEF-F79B504B1C16}" type="slidenum">
              <a:rPr lang="en-GB" sz="700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GB" sz="700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C642F3-0BAD-4634-AAF1-452E69C84B94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- no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A5599D1B-C484-428D-A944-795F372C487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rahul.dingal\Desktop\Infosys\version1\black and white\4.jpg"/>
          <p:cNvPicPr>
            <a:picLocks noChangeAspect="1" noChangeArrowheads="1"/>
          </p:cNvPicPr>
          <p:nvPr userDrawn="1"/>
        </p:nvPicPr>
        <p:blipFill>
          <a:blip r:embed="rId2" cstate="print"/>
          <a:srcRect l="13943" r="10527"/>
          <a:stretch>
            <a:fillRect/>
          </a:stretch>
        </p:blipFill>
        <p:spPr bwMode="auto">
          <a:xfrm>
            <a:off x="0" y="0"/>
            <a:ext cx="9144000" cy="633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 descr="Infosys_2C.ai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75088" y="1470025"/>
            <a:ext cx="1392237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E8181C5-8A0C-4BE6-9784-F8AAFD5BAD84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es&amp;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lg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30500" y="1608138"/>
            <a:ext cx="3584575" cy="52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tes&amp;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2316163" y="3471863"/>
            <a:ext cx="5002212" cy="1587"/>
          </a:xfrm>
          <a:prstGeom prst="line">
            <a:avLst/>
          </a:prstGeom>
          <a:ln w="22225" cap="rnd" cmpd="sng" algn="ctr">
            <a:solidFill>
              <a:schemeClr val="bg1">
                <a:lumMod val="75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g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4500" y="1608138"/>
            <a:ext cx="3584575" cy="52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438400" y="2156725"/>
            <a:ext cx="4880292" cy="1316736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rgbClr val="FF6600"/>
                </a:solidFill>
                <a:latin typeface="Arial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2319862" y="3570912"/>
            <a:ext cx="4880292" cy="3009816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400">
                <a:solidFill>
                  <a:schemeClr val="bg2">
                    <a:lumMod val="50000"/>
                  </a:schemeClr>
                </a:solidFill>
                <a:latin typeface="Arial"/>
                <a:cs typeface="Arial"/>
              </a:defRPr>
            </a:lvl1pPr>
            <a:lvl2pPr marL="444500" indent="0" algn="ctr">
              <a:buFontTx/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/>
                <a:cs typeface="Arial"/>
              </a:defRPr>
            </a:lvl2pPr>
            <a:lvl3pPr marL="895350" indent="0" algn="ctr">
              <a:buFontTx/>
              <a:buNone/>
              <a:defRPr sz="1100">
                <a:solidFill>
                  <a:schemeClr val="bg2">
                    <a:lumMod val="50000"/>
                  </a:schemeClr>
                </a:solidFill>
                <a:latin typeface="Arial"/>
                <a:cs typeface="Arial"/>
              </a:defRPr>
            </a:lvl3pPr>
            <a:lvl4pPr marL="1347788" indent="0" algn="ctr">
              <a:buFontTx/>
              <a:buNone/>
              <a:defRPr sz="1050">
                <a:solidFill>
                  <a:schemeClr val="bg2">
                    <a:lumMod val="50000"/>
                  </a:schemeClr>
                </a:solidFill>
                <a:latin typeface="Arial"/>
                <a:cs typeface="Arial"/>
              </a:defRPr>
            </a:lvl4pPr>
            <a:lvl5pPr marL="1792288" indent="0" algn="ctr">
              <a:buFontTx/>
              <a:buNone/>
              <a:defRPr sz="1050">
                <a:solidFill>
                  <a:schemeClr val="bg2">
                    <a:lumMod val="50000"/>
                  </a:schemeClr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rahul.dingal\Desktop\Infosys\version1\black and white\4.jpg"/>
          <p:cNvPicPr>
            <a:picLocks noChangeAspect="1" noChangeArrowheads="1"/>
          </p:cNvPicPr>
          <p:nvPr userDrawn="1"/>
        </p:nvPicPr>
        <p:blipFill>
          <a:blip r:embed="rId2" cstate="print"/>
          <a:srcRect l="13943" r="10527"/>
          <a:stretch>
            <a:fillRect/>
          </a:stretch>
        </p:blipFill>
        <p:spPr bwMode="auto">
          <a:xfrm>
            <a:off x="0" y="0"/>
            <a:ext cx="9144000" cy="633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 descr="Infosys_2C.ai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16313" y="1327150"/>
            <a:ext cx="2111375" cy="846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jpe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" descr="Infosys_patter_fade.jpg"/>
          <p:cNvPicPr>
            <a:picLocks noChangeAspect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107950"/>
            <a:ext cx="8229600" cy="935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GB" smtClean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3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smtClean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gray">
          <a:xfrm>
            <a:off x="0" y="6333066"/>
            <a:ext cx="9144000" cy="546105"/>
          </a:xfrm>
          <a:prstGeom prst="rect">
            <a:avLst/>
          </a:prstGeom>
          <a:gradFill flip="none" rotWithShape="1">
            <a:gsLst>
              <a:gs pos="51000">
                <a:srgbClr val="6D6E71"/>
              </a:gs>
              <a:gs pos="0">
                <a:schemeClr val="tx2">
                  <a:lumMod val="95000"/>
                  <a:lumOff val="5000"/>
                </a:schemeClr>
              </a:gs>
              <a:gs pos="81000">
                <a:schemeClr val="tx2">
                  <a:lumMod val="95000"/>
                  <a:lumOff val="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9525">
            <a:noFill/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aseline="-250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5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4403725" y="6446838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70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70C1B00-560F-41DF-AF51-6D072DB6E05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1033" name="Picture 10" descr="BTE_logo1.png"/>
          <p:cNvPicPr>
            <a:picLocks noChangeAspect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612063" y="6492875"/>
            <a:ext cx="140652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" name="Picture 11" descr="LOGOO.png"/>
          <p:cNvPicPr>
            <a:picLocks noChangeAspect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157163" y="6451600"/>
            <a:ext cx="768350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>
            <a:spLocks noChangeArrowheads="1"/>
          </p:cNvSpPr>
          <p:nvPr userDrawn="1"/>
        </p:nvSpPr>
        <p:spPr bwMode="gray">
          <a:xfrm>
            <a:off x="0" y="0"/>
            <a:ext cx="9144000" cy="666044"/>
          </a:xfrm>
          <a:prstGeom prst="rect">
            <a:avLst/>
          </a:prstGeom>
          <a:gradFill flip="none" rotWithShape="1">
            <a:gsLst>
              <a:gs pos="51000">
                <a:srgbClr val="6D6E71"/>
              </a:gs>
              <a:gs pos="0">
                <a:schemeClr val="tx2">
                  <a:lumMod val="95000"/>
                  <a:lumOff val="5000"/>
                </a:schemeClr>
              </a:gs>
              <a:gs pos="81000">
                <a:schemeClr val="tx2">
                  <a:lumMod val="95000"/>
                  <a:lumOff val="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9525">
            <a:noFill/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aseline="-2500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14" r:id="rId3"/>
    <p:sldLayoutId id="2147484007" r:id="rId4"/>
    <p:sldLayoutId id="2147484008" r:id="rId5"/>
    <p:sldLayoutId id="2147484009" r:id="rId6"/>
    <p:sldLayoutId id="2147484015" r:id="rId7"/>
    <p:sldLayoutId id="2147484010" r:id="rId8"/>
    <p:sldLayoutId id="2147484011" r:id="rId9"/>
    <p:sldLayoutId id="2147484016" r:id="rId10"/>
    <p:sldLayoutId id="2147484017" r:id="rId11"/>
    <p:sldLayoutId id="2147484018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00" kern="1200">
          <a:solidFill>
            <a:schemeClr val="tx1"/>
          </a:solidFill>
          <a:latin typeface="Arial"/>
          <a:ea typeface="+mj-ea"/>
          <a:cs typeface="Arial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Arial" pitchFamily="34" charset="0"/>
          <a:cs typeface="Arial" pitchFamily="34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Arial" pitchFamily="34" charset="0"/>
          <a:cs typeface="Arial" pitchFamily="34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Arial" pitchFamily="34" charset="0"/>
          <a:cs typeface="Arial" pitchFamily="34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Arial" pitchFamily="34" charset="0"/>
          <a:cs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GillSan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GillSan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GillSan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GillSans" pitchFamily="34" charset="0"/>
        </a:defRPr>
      </a:lvl9pPr>
    </p:titleStyle>
    <p:bodyStyle>
      <a:lvl1pPr marL="176213" indent="-176213" algn="l" rtl="0" eaLnBrk="0" fontAlgn="base" hangingPunct="0">
        <a:spcBef>
          <a:spcPct val="0"/>
        </a:spcBef>
        <a:spcAft>
          <a:spcPts val="600"/>
        </a:spcAft>
        <a:buClr>
          <a:srgbClr val="F1592A"/>
        </a:buClr>
        <a:buSzPct val="100000"/>
        <a:buFont typeface="Arial" pitchFamily="34" charset="0"/>
        <a:buChar char="•"/>
        <a:defRPr sz="3200" kern="1200">
          <a:solidFill>
            <a:srgbClr val="6D6E71"/>
          </a:solidFill>
          <a:latin typeface="Arial"/>
          <a:ea typeface="+mn-ea"/>
          <a:cs typeface="Arial"/>
        </a:defRPr>
      </a:lvl1pPr>
      <a:lvl2pPr marL="628650" indent="-171450" algn="l" rtl="0" eaLnBrk="0" fontAlgn="base" hangingPunct="0">
        <a:spcBef>
          <a:spcPct val="0"/>
        </a:spcBef>
        <a:spcAft>
          <a:spcPts val="600"/>
        </a:spcAft>
        <a:buClr>
          <a:srgbClr val="F1592A"/>
        </a:buClr>
        <a:buSzPct val="100000"/>
        <a:buFont typeface="Arial" pitchFamily="34" charset="0"/>
        <a:buChar char="•"/>
        <a:defRPr sz="1600" kern="1200">
          <a:solidFill>
            <a:srgbClr val="6D6E71"/>
          </a:solidFill>
          <a:latin typeface="Arial"/>
          <a:ea typeface="+mn-ea"/>
          <a:cs typeface="Arial"/>
        </a:defRPr>
      </a:lvl2pPr>
      <a:lvl3pPr marL="1079500" indent="-165100" algn="l" rtl="0" eaLnBrk="0" fontAlgn="base" hangingPunct="0">
        <a:spcBef>
          <a:spcPct val="0"/>
        </a:spcBef>
        <a:spcAft>
          <a:spcPts val="600"/>
        </a:spcAft>
        <a:buClr>
          <a:srgbClr val="F1592A"/>
        </a:buClr>
        <a:buSzPct val="100000"/>
        <a:buFont typeface="Arial" pitchFamily="34" charset="0"/>
        <a:buChar char="•"/>
        <a:defRPr sz="1400" kern="1200">
          <a:solidFill>
            <a:srgbClr val="6D6E71"/>
          </a:solidFill>
          <a:latin typeface="Arial"/>
          <a:ea typeface="+mn-ea"/>
          <a:cs typeface="Arial"/>
        </a:defRPr>
      </a:lvl3pPr>
      <a:lvl4pPr marL="1524000" indent="-152400" algn="l" rtl="0" eaLnBrk="0" fontAlgn="base" hangingPunct="0">
        <a:spcBef>
          <a:spcPct val="0"/>
        </a:spcBef>
        <a:spcAft>
          <a:spcPts val="600"/>
        </a:spcAft>
        <a:buClr>
          <a:srgbClr val="F1592A"/>
        </a:buClr>
        <a:buSzPct val="100000"/>
        <a:buFont typeface="Arial" pitchFamily="34" charset="0"/>
        <a:buChar char="•"/>
        <a:defRPr sz="1400" kern="1200">
          <a:solidFill>
            <a:srgbClr val="6D6E71"/>
          </a:solidFill>
          <a:latin typeface="Arial"/>
          <a:ea typeface="+mn-ea"/>
          <a:cs typeface="Arial"/>
        </a:defRPr>
      </a:lvl4pPr>
      <a:lvl5pPr marL="1974850" indent="-146050" algn="l" rtl="0" eaLnBrk="0" fontAlgn="base" hangingPunct="0">
        <a:spcBef>
          <a:spcPct val="0"/>
        </a:spcBef>
        <a:spcAft>
          <a:spcPts val="600"/>
        </a:spcAft>
        <a:buClr>
          <a:srgbClr val="F1592A"/>
        </a:buClr>
        <a:buSzPct val="100000"/>
        <a:buFont typeface="Arial" pitchFamily="34" charset="0"/>
        <a:buChar char="•"/>
        <a:defRPr sz="1400" kern="1200">
          <a:solidFill>
            <a:srgbClr val="6D6E71"/>
          </a:solidFill>
          <a:latin typeface="Arial"/>
          <a:ea typeface="+mn-ea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0" descr="Infosys_gradient_w_pattern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>
            <a:spLocks noChangeArrowheads="1"/>
          </p:cNvSpPr>
          <p:nvPr/>
        </p:nvSpPr>
        <p:spPr bwMode="gray">
          <a:xfrm>
            <a:off x="0" y="6333066"/>
            <a:ext cx="9144000" cy="546105"/>
          </a:xfrm>
          <a:prstGeom prst="rect">
            <a:avLst/>
          </a:prstGeom>
          <a:gradFill flip="none" rotWithShape="1">
            <a:gsLst>
              <a:gs pos="51000">
                <a:srgbClr val="6D6E71"/>
              </a:gs>
              <a:gs pos="0">
                <a:schemeClr val="tx2">
                  <a:lumMod val="95000"/>
                  <a:lumOff val="5000"/>
                </a:schemeClr>
              </a:gs>
              <a:gs pos="81000">
                <a:schemeClr val="tx2">
                  <a:lumMod val="95000"/>
                  <a:lumOff val="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9525">
            <a:noFill/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aseline="-2500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0" r:id="rId1"/>
    <p:sldLayoutId id="2147484021" r:id="rId2"/>
    <p:sldLayoutId id="2147484022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00BAE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BAEF"/>
          </a:solidFill>
          <a:latin typeface="GillSan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BAEF"/>
          </a:solidFill>
          <a:latin typeface="GillSan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BAEF"/>
          </a:solidFill>
          <a:latin typeface="GillSan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BAEF"/>
          </a:solidFill>
          <a:latin typeface="GillSan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BAEF"/>
          </a:solidFill>
          <a:latin typeface="GillSan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BAEF"/>
          </a:solidFill>
          <a:latin typeface="GillSan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BAEF"/>
          </a:solidFill>
          <a:latin typeface="GillSan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BAEF"/>
          </a:solidFill>
          <a:latin typeface="GillSans" pitchFamily="34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ts val="600"/>
        </a:spcAft>
        <a:buClr>
          <a:schemeClr val="bg1"/>
        </a:buClr>
        <a:buSzPct val="100000"/>
        <a:buFont typeface="Arial" pitchFamily="34" charset="0"/>
        <a:buChar char="•"/>
        <a:defRPr sz="2800" kern="1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ts val="600"/>
        </a:spcAft>
        <a:buClr>
          <a:schemeClr val="bg1"/>
        </a:buClr>
        <a:buSzPct val="100000"/>
        <a:buFont typeface="Arial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0"/>
        </a:spcBef>
        <a:spcAft>
          <a:spcPts val="600"/>
        </a:spcAft>
        <a:buClr>
          <a:schemeClr val="bg1"/>
        </a:buClr>
        <a:buSzPct val="100000"/>
        <a:buFont typeface="Arial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0"/>
        </a:spcBef>
        <a:spcAft>
          <a:spcPts val="600"/>
        </a:spcAft>
        <a:buClr>
          <a:schemeClr val="bg1"/>
        </a:buClr>
        <a:buSzPct val="100000"/>
        <a:buFont typeface="Arial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0"/>
        </a:spcBef>
        <a:spcAft>
          <a:spcPts val="600"/>
        </a:spcAft>
        <a:buClr>
          <a:schemeClr val="bg1"/>
        </a:buClr>
        <a:buSzPct val="100000"/>
        <a:buFont typeface="Arial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86263" y="946822"/>
            <a:ext cx="3597275" cy="3600089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lIns="0" tIns="46038" rIns="0" bIns="46038">
            <a:spAutoFit/>
          </a:bodyPr>
          <a:lstStyle>
            <a:defPPr>
              <a:defRPr lang="en-AU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endParaRPr lang="en-US" sz="1200" dirty="0" smtClean="0"/>
          </a:p>
          <a:p>
            <a:r>
              <a:rPr lang="en-US" sz="1200" dirty="0" smtClean="0"/>
              <a:t>Over </a:t>
            </a:r>
            <a:r>
              <a:rPr lang="en-US" sz="1200" b="1" dirty="0" smtClean="0"/>
              <a:t>9 years </a:t>
            </a:r>
            <a:r>
              <a:rPr lang="en-US" sz="1200" dirty="0"/>
              <a:t>of experience in </a:t>
            </a:r>
            <a:r>
              <a:rPr lang="en-US" sz="1200" dirty="0" smtClean="0"/>
              <a:t>Consulting</a:t>
            </a:r>
            <a:r>
              <a:rPr lang="en-US" sz="1200" dirty="0"/>
              <a:t> </a:t>
            </a:r>
            <a:r>
              <a:rPr lang="en-US" sz="1200" dirty="0" smtClean="0"/>
              <a:t>as an </a:t>
            </a:r>
            <a:r>
              <a:rPr lang="en-US" sz="1400" b="1" dirty="0" smtClean="0"/>
              <a:t>Functional Analyst </a:t>
            </a:r>
            <a:r>
              <a:rPr lang="en-US" sz="1200" dirty="0"/>
              <a:t>in the </a:t>
            </a:r>
            <a:r>
              <a:rPr lang="en-US" sz="1400" b="1" dirty="0" smtClean="0"/>
              <a:t>Oracle ERP financial applications</a:t>
            </a:r>
            <a:r>
              <a:rPr lang="en-US" sz="1200" dirty="0" smtClean="0"/>
              <a:t> space. </a:t>
            </a:r>
            <a:r>
              <a:rPr lang="en-US" sz="1200" dirty="0"/>
              <a:t>This includes </a:t>
            </a:r>
            <a:r>
              <a:rPr lang="en-US" sz="1200" dirty="0" smtClean="0"/>
              <a:t>about 2 </a:t>
            </a:r>
            <a:r>
              <a:rPr lang="en-US" sz="1200" dirty="0"/>
              <a:t>years of </a:t>
            </a:r>
            <a:r>
              <a:rPr lang="en-US" sz="1200" dirty="0" smtClean="0"/>
              <a:t>Project management experience </a:t>
            </a:r>
            <a:r>
              <a:rPr lang="en-US" sz="1200" dirty="0"/>
              <a:t>across </a:t>
            </a:r>
            <a:r>
              <a:rPr lang="en-US" sz="1200" dirty="0" smtClean="0"/>
              <a:t>technologies in </a:t>
            </a:r>
            <a:r>
              <a:rPr lang="en-US" sz="1200" dirty="0"/>
              <a:t>the U.S with </a:t>
            </a:r>
            <a:r>
              <a:rPr lang="en-US" sz="1200" dirty="0" smtClean="0"/>
              <a:t>Fortune </a:t>
            </a:r>
            <a:r>
              <a:rPr lang="en-US" sz="1200" dirty="0"/>
              <a:t>500 customers. </a:t>
            </a:r>
          </a:p>
          <a:p>
            <a:r>
              <a:rPr lang="en-US" sz="1200" dirty="0"/>
              <a:t> </a:t>
            </a:r>
          </a:p>
          <a:p>
            <a:r>
              <a:rPr lang="en-US" sz="1200" dirty="0"/>
              <a:t>Proven experience in </a:t>
            </a:r>
            <a:r>
              <a:rPr lang="en-US" sz="1200" b="1" dirty="0" smtClean="0"/>
              <a:t>multiple </a:t>
            </a:r>
            <a:r>
              <a:rPr lang="en-US" sz="1200" b="1" dirty="0"/>
              <a:t>large and complex </a:t>
            </a:r>
            <a:r>
              <a:rPr lang="en-US" sz="1200" b="1" dirty="0" smtClean="0"/>
              <a:t>Implementation, Upgrade, and Post-Production Support projects.  </a:t>
            </a:r>
          </a:p>
          <a:p>
            <a:r>
              <a:rPr lang="en-US" sz="1200" dirty="0"/>
              <a:t> </a:t>
            </a:r>
          </a:p>
          <a:p>
            <a:r>
              <a:rPr lang="en-US" sz="1200" dirty="0" smtClean="0"/>
              <a:t>My </a:t>
            </a:r>
            <a:r>
              <a:rPr lang="en-US" sz="1200" dirty="0"/>
              <a:t>experience span </a:t>
            </a:r>
            <a:r>
              <a:rPr lang="en-US" sz="1200" dirty="0" smtClean="0"/>
              <a:t>across several version or Oracle Financial Applications, </a:t>
            </a:r>
            <a:r>
              <a:rPr lang="en-US" sz="1200" dirty="0"/>
              <a:t>which includes </a:t>
            </a:r>
            <a:r>
              <a:rPr lang="en-US" sz="1200" dirty="0" smtClean="0"/>
              <a:t>General Ledger, Accounts Payable, Accounts Receivable, Purchasing, Fixed Assets, and Cash Management.  </a:t>
            </a:r>
            <a:endParaRPr lang="en-US" sz="1200" dirty="0"/>
          </a:p>
          <a:p>
            <a:pPr marL="171450" indent="-171450">
              <a:lnSpc>
                <a:spcPct val="110000"/>
              </a:lnSpc>
              <a:spcBef>
                <a:spcPct val="25000"/>
              </a:spcBef>
              <a:spcAft>
                <a:spcPct val="20000"/>
              </a:spcAft>
              <a:buFont typeface="Arial" panose="020B0604020202020204" pitchFamily="34" charset="0"/>
              <a:buChar char="•"/>
            </a:pPr>
            <a:endParaRPr lang="en-US" sz="1100" dirty="0" smtClean="0"/>
          </a:p>
          <a:p>
            <a:pPr marL="92075" indent="-92075">
              <a:lnSpc>
                <a:spcPct val="110000"/>
              </a:lnSpc>
              <a:spcBef>
                <a:spcPct val="25000"/>
              </a:spcBef>
              <a:spcAft>
                <a:spcPct val="20000"/>
              </a:spcAft>
              <a:buFontTx/>
              <a:buChar char="•"/>
            </a:pPr>
            <a:endParaRPr lang="en-US" sz="1100" dirty="0"/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0" y="4782542"/>
            <a:ext cx="2507234" cy="144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AU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174625" indent="-174625"/>
            <a:r>
              <a:rPr lang="en-US" sz="1100" b="1" dirty="0"/>
              <a:t>Functional </a:t>
            </a:r>
            <a:r>
              <a:rPr lang="en-US" sz="1100" b="1" dirty="0" smtClean="0"/>
              <a:t>Expertise</a:t>
            </a:r>
          </a:p>
          <a:p>
            <a:pPr marL="174625" indent="-174625"/>
            <a:endParaRPr lang="en-US" sz="1100" b="1" dirty="0"/>
          </a:p>
          <a:p>
            <a:pPr marL="174625" indent="-174625"/>
            <a:r>
              <a:rPr lang="en-US" sz="1100" dirty="0" smtClean="0"/>
              <a:t>General Ledger</a:t>
            </a:r>
          </a:p>
          <a:p>
            <a:pPr marL="174625" indent="-174625"/>
            <a:r>
              <a:rPr lang="en-US" sz="1100" dirty="0" smtClean="0"/>
              <a:t>Procure to Pay</a:t>
            </a:r>
          </a:p>
          <a:p>
            <a:pPr marL="174625" indent="-174625"/>
            <a:r>
              <a:rPr lang="en-US" sz="1100" dirty="0" smtClean="0"/>
              <a:t>Order to Cash</a:t>
            </a:r>
          </a:p>
          <a:p>
            <a:pPr marL="174625" indent="-174625"/>
            <a:r>
              <a:rPr lang="en-US" sz="1100" dirty="0" smtClean="0"/>
              <a:t>Acquire to Retire</a:t>
            </a:r>
          </a:p>
          <a:p>
            <a:pPr marL="174625" indent="-174625"/>
            <a:r>
              <a:rPr lang="en-US" sz="1100" dirty="0" smtClean="0"/>
              <a:t>EB Tax, Cash Management</a:t>
            </a:r>
            <a:endParaRPr lang="en-US" sz="1100" dirty="0" smtClean="0"/>
          </a:p>
          <a:p>
            <a:pPr marL="174625" indent="-174625"/>
            <a:r>
              <a:rPr lang="en-US" sz="1100" dirty="0" smtClean="0"/>
              <a:t>Approvals Management (AME)</a:t>
            </a:r>
            <a:endParaRPr lang="en-US" sz="1100" dirty="0" smtClean="0"/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2495359" y="4799963"/>
            <a:ext cx="1897062" cy="11079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en-AU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95250" indent="-95250"/>
            <a:r>
              <a:rPr lang="en-US" sz="1100" b="1" dirty="0"/>
              <a:t>Industry </a:t>
            </a:r>
            <a:r>
              <a:rPr lang="en-US" sz="1100" b="1" dirty="0" smtClean="0"/>
              <a:t>Experience</a:t>
            </a:r>
          </a:p>
          <a:p>
            <a:pPr marL="95250" indent="-95250"/>
            <a:endParaRPr lang="en-US" sz="1100" dirty="0" smtClean="0"/>
          </a:p>
          <a:p>
            <a:pPr marL="95250" indent="-95250"/>
            <a:r>
              <a:rPr lang="en-US" sz="1100" dirty="0" smtClean="0"/>
              <a:t>Services </a:t>
            </a:r>
          </a:p>
          <a:p>
            <a:pPr marL="95250" indent="-95250"/>
            <a:r>
              <a:rPr lang="en-US" sz="1100" dirty="0" smtClean="0"/>
              <a:t>Energy &amp; Utilities </a:t>
            </a:r>
          </a:p>
          <a:p>
            <a:pPr marL="95250" indent="-95250"/>
            <a:r>
              <a:rPr lang="en-US" sz="1100" dirty="0" smtClean="0"/>
              <a:t>Manufacturing</a:t>
            </a:r>
          </a:p>
          <a:p>
            <a:pPr marL="95250" indent="-95250"/>
            <a:r>
              <a:rPr lang="en-US" sz="1100" dirty="0" smtClean="0"/>
              <a:t>Retail</a:t>
            </a:r>
            <a:endParaRPr lang="en-US" sz="1100" dirty="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008257" y="1164353"/>
            <a:ext cx="5135743" cy="531222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AU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lvl="0"/>
            <a:r>
              <a:rPr lang="en-US" sz="1400" b="1" dirty="0" smtClean="0">
                <a:solidFill>
                  <a:srgbClr val="002D78"/>
                </a:solidFill>
                <a:latin typeface="Arial" pitchFamily="34" charset="0"/>
                <a:cs typeface="Arial" pitchFamily="34" charset="0"/>
              </a:rPr>
              <a:t>General Ledger and SLA</a:t>
            </a:r>
            <a:endParaRPr lang="en-US" sz="1400" dirty="0">
              <a:solidFill>
                <a:srgbClr val="002D78"/>
              </a:solidFill>
              <a:latin typeface="Arial" pitchFamily="34" charset="0"/>
              <a:cs typeface="Arial" pitchFamily="34" charset="0"/>
            </a:endParaRPr>
          </a:p>
          <a:p>
            <a:pPr marL="95250" lvl="0" indent="-95250">
              <a:spcAft>
                <a:spcPct val="20000"/>
              </a:spcAft>
              <a:buFont typeface="Arial" pitchFamily="34" charset="0"/>
              <a:buChar char="•"/>
            </a:pPr>
            <a:r>
              <a:rPr lang="en-US" altLang="en-US" sz="1200" dirty="0" smtClean="0">
                <a:solidFill>
                  <a:srgbClr val="002D78"/>
                </a:solidFill>
                <a:latin typeface="Arial" pitchFamily="34" charset="0"/>
                <a:cs typeface="Arial" pitchFamily="34" charset="0"/>
              </a:rPr>
              <a:t>Accounting Setups to define Ledgers, Legal Entities, Operating Units, Business Groups</a:t>
            </a:r>
          </a:p>
          <a:p>
            <a:pPr marL="95250" lvl="0" indent="-95250">
              <a:spcAft>
                <a:spcPct val="20000"/>
              </a:spcAft>
              <a:buFont typeface="Arial" pitchFamily="34" charset="0"/>
              <a:buChar char="•"/>
            </a:pPr>
            <a:r>
              <a:rPr lang="en-US" altLang="en-US" sz="1200" dirty="0" smtClean="0">
                <a:solidFill>
                  <a:srgbClr val="002D78"/>
                </a:solidFill>
                <a:latin typeface="Arial" pitchFamily="34" charset="0"/>
                <a:cs typeface="Arial" pitchFamily="34" charset="0"/>
              </a:rPr>
              <a:t>Setup Chart of Accounts, Currency, Calendar, </a:t>
            </a:r>
            <a:r>
              <a:rPr lang="en-US" altLang="en-US" sz="1200" dirty="0" err="1" smtClean="0">
                <a:solidFill>
                  <a:srgbClr val="002D78"/>
                </a:solidFill>
                <a:latin typeface="Arial" pitchFamily="34" charset="0"/>
                <a:cs typeface="Arial" pitchFamily="34" charset="0"/>
              </a:rPr>
              <a:t>Subledger</a:t>
            </a:r>
            <a:r>
              <a:rPr lang="en-US" altLang="en-US" sz="1200" dirty="0" smtClean="0">
                <a:solidFill>
                  <a:srgbClr val="002D78"/>
                </a:solidFill>
                <a:latin typeface="Arial" pitchFamily="34" charset="0"/>
                <a:cs typeface="Arial" pitchFamily="34" charset="0"/>
              </a:rPr>
              <a:t> Accounting Methods </a:t>
            </a:r>
          </a:p>
          <a:p>
            <a:pPr marL="95250" lvl="0" indent="-95250">
              <a:spcAft>
                <a:spcPct val="20000"/>
              </a:spcAft>
              <a:buFont typeface="Arial" pitchFamily="34" charset="0"/>
              <a:buChar char="•"/>
            </a:pPr>
            <a:r>
              <a:rPr lang="en-US" altLang="en-US" sz="1200" dirty="0" smtClean="0">
                <a:solidFill>
                  <a:srgbClr val="002D78"/>
                </a:solidFill>
                <a:latin typeface="Arial" pitchFamily="34" charset="0"/>
                <a:cs typeface="Arial" pitchFamily="34" charset="0"/>
              </a:rPr>
              <a:t>Integrate MOAC to control responsibility and user based access</a:t>
            </a:r>
          </a:p>
          <a:p>
            <a:pPr marL="95250" lvl="0" indent="-95250">
              <a:spcAft>
                <a:spcPct val="20000"/>
              </a:spcAft>
              <a:buFont typeface="Arial" pitchFamily="34" charset="0"/>
              <a:buChar char="•"/>
            </a:pPr>
            <a:r>
              <a:rPr lang="en-US" altLang="en-US" sz="1200" dirty="0" smtClean="0">
                <a:solidFill>
                  <a:srgbClr val="002D78"/>
                </a:solidFill>
                <a:latin typeface="Arial" pitchFamily="34" charset="0"/>
                <a:cs typeface="Arial" pitchFamily="34" charset="0"/>
              </a:rPr>
              <a:t>Define Advanced Global Intercompany (</a:t>
            </a:r>
            <a:r>
              <a:rPr lang="en-US" altLang="en-US" sz="1400" b="1" dirty="0" smtClean="0">
                <a:solidFill>
                  <a:srgbClr val="002D78"/>
                </a:solidFill>
                <a:latin typeface="Arial" pitchFamily="34" charset="0"/>
                <a:cs typeface="Arial" pitchFamily="34" charset="0"/>
              </a:rPr>
              <a:t>AGIS</a:t>
            </a:r>
            <a:r>
              <a:rPr lang="en-US" altLang="en-US" sz="1200" dirty="0" smtClean="0">
                <a:solidFill>
                  <a:srgbClr val="002D78"/>
                </a:solidFill>
                <a:latin typeface="Arial" pitchFamily="34" charset="0"/>
                <a:cs typeface="Arial" pitchFamily="34" charset="0"/>
              </a:rPr>
              <a:t>) rules</a:t>
            </a:r>
            <a:endParaRPr lang="en-US" sz="1100" b="1" dirty="0" smtClean="0"/>
          </a:p>
          <a:p>
            <a:endParaRPr lang="en-US" sz="1050" b="1" dirty="0"/>
          </a:p>
          <a:p>
            <a:r>
              <a:rPr lang="en-US" sz="1400" b="1" dirty="0" smtClean="0"/>
              <a:t>Procure to Pay (P2P)</a:t>
            </a:r>
            <a:endParaRPr lang="en-US" sz="1400" dirty="0" smtClean="0"/>
          </a:p>
          <a:p>
            <a:pPr marL="95250" indent="-95250">
              <a:spcAft>
                <a:spcPct val="20000"/>
              </a:spcAft>
              <a:buFont typeface="Arial" pitchFamily="34" charset="0"/>
              <a:buChar char="•"/>
            </a:pPr>
            <a:r>
              <a:rPr lang="en-US" altLang="en-US" sz="1200" dirty="0" smtClean="0"/>
              <a:t>SME on P2P process and configuration</a:t>
            </a:r>
          </a:p>
          <a:p>
            <a:pPr marL="95250" indent="-95250">
              <a:spcAft>
                <a:spcPct val="20000"/>
              </a:spcAft>
              <a:buFont typeface="Arial" pitchFamily="34" charset="0"/>
              <a:buChar char="•"/>
            </a:pPr>
            <a:r>
              <a:rPr lang="en-US" altLang="en-US" sz="1200" dirty="0" smtClean="0"/>
              <a:t>Configure Financial, Purchasing, Payables, and System options</a:t>
            </a:r>
          </a:p>
          <a:p>
            <a:pPr marL="95250" indent="-95250">
              <a:spcAft>
                <a:spcPct val="20000"/>
              </a:spcAft>
              <a:buFont typeface="Arial" pitchFamily="34" charset="0"/>
              <a:buChar char="•"/>
            </a:pPr>
            <a:r>
              <a:rPr lang="en-US" altLang="en-US" sz="1200" dirty="0" smtClean="0"/>
              <a:t>Payment administrator and bank information</a:t>
            </a:r>
            <a:endParaRPr lang="en-US" altLang="en-US" sz="1200" dirty="0" smtClean="0"/>
          </a:p>
          <a:p>
            <a:pPr marL="95250" indent="-95250">
              <a:spcAft>
                <a:spcPct val="20000"/>
              </a:spcAft>
              <a:buFont typeface="Arial" pitchFamily="34" charset="0"/>
              <a:buChar char="•"/>
            </a:pPr>
            <a:r>
              <a:rPr lang="en-US" altLang="en-US" sz="1200" dirty="0" smtClean="0"/>
              <a:t>Setup supplier registration and approvals</a:t>
            </a:r>
          </a:p>
          <a:p>
            <a:pPr marL="95250" indent="-95250">
              <a:spcAft>
                <a:spcPct val="20000"/>
              </a:spcAft>
              <a:buFont typeface="Arial" pitchFamily="34" charset="0"/>
              <a:buChar char="•"/>
            </a:pPr>
            <a:r>
              <a:rPr lang="en-US" altLang="en-US" sz="1200" dirty="0" smtClean="0"/>
              <a:t>Various implementations integrating </a:t>
            </a:r>
            <a:r>
              <a:rPr lang="en-US" altLang="en-US" sz="1400" b="1" dirty="0" smtClean="0"/>
              <a:t>EB-Tax</a:t>
            </a:r>
            <a:r>
              <a:rPr lang="en-US" altLang="en-US" sz="1200" b="1" dirty="0" smtClean="0"/>
              <a:t> </a:t>
            </a:r>
            <a:r>
              <a:rPr lang="en-US" altLang="en-US" sz="1200" dirty="0" smtClean="0"/>
              <a:t>and/or </a:t>
            </a:r>
            <a:r>
              <a:rPr lang="en-US" altLang="en-US" sz="1200" dirty="0" err="1" smtClean="0"/>
              <a:t>Sabrix</a:t>
            </a:r>
            <a:r>
              <a:rPr lang="en-US" altLang="en-US" sz="1200" dirty="0" smtClean="0"/>
              <a:t>/Vertex tax software.  </a:t>
            </a:r>
          </a:p>
          <a:p>
            <a:pPr marL="95250" indent="-95250">
              <a:spcAft>
                <a:spcPct val="20000"/>
              </a:spcAft>
              <a:buFont typeface="Arial" pitchFamily="34" charset="0"/>
              <a:buChar char="•"/>
            </a:pPr>
            <a:endParaRPr lang="en-US" altLang="en-US" sz="1050" dirty="0"/>
          </a:p>
          <a:p>
            <a:r>
              <a:rPr lang="en-US" sz="1400" b="1" dirty="0" smtClean="0"/>
              <a:t>Order to Cash (O2C)</a:t>
            </a:r>
            <a:endParaRPr lang="en-US" sz="1400" dirty="0"/>
          </a:p>
          <a:p>
            <a:pPr marL="95250" indent="-95250">
              <a:spcAft>
                <a:spcPct val="20000"/>
              </a:spcAft>
              <a:buFont typeface="Arial" pitchFamily="34" charset="0"/>
              <a:buChar char="•"/>
            </a:pPr>
            <a:r>
              <a:rPr lang="en-US" altLang="en-US" sz="1200" dirty="0" smtClean="0"/>
              <a:t>Setup System </a:t>
            </a:r>
            <a:r>
              <a:rPr lang="en-US" altLang="en-US" sz="1200" dirty="0"/>
              <a:t>Options, </a:t>
            </a:r>
            <a:r>
              <a:rPr lang="en-US" altLang="en-US" sz="1200" dirty="0" smtClean="0"/>
              <a:t>Transaction Types and Sources, Lockbox</a:t>
            </a:r>
            <a:r>
              <a:rPr lang="en-US" altLang="en-US" sz="1200" dirty="0"/>
              <a:t>, Quick Codes and Taxes. </a:t>
            </a:r>
            <a:endParaRPr lang="en-US" altLang="en-US" sz="1200" dirty="0" smtClean="0"/>
          </a:p>
          <a:p>
            <a:pPr marL="95250" indent="-95250">
              <a:spcAft>
                <a:spcPct val="20000"/>
              </a:spcAft>
              <a:buFont typeface="Arial" pitchFamily="34" charset="0"/>
              <a:buChar char="•"/>
            </a:pPr>
            <a:r>
              <a:rPr lang="en-US" altLang="en-US" sz="1200" dirty="0" smtClean="0"/>
              <a:t>Configure Remit to Address, Payment Terms, Receipt Classes, Auto Accounting</a:t>
            </a:r>
            <a:endParaRPr lang="en-US" altLang="en-US" sz="1200" dirty="0"/>
          </a:p>
          <a:p>
            <a:pPr marL="95250" indent="-95250">
              <a:spcAft>
                <a:spcPct val="20000"/>
              </a:spcAft>
              <a:buFont typeface="Arial" pitchFamily="34" charset="0"/>
              <a:buChar char="•"/>
            </a:pPr>
            <a:r>
              <a:rPr lang="en-US" altLang="en-US" sz="1200" dirty="0" smtClean="0"/>
              <a:t>Payments and Bank Setups</a:t>
            </a:r>
            <a:endParaRPr lang="en-US" altLang="en-US" sz="1200" dirty="0"/>
          </a:p>
          <a:p>
            <a:pPr marL="95250" indent="-95250">
              <a:spcAft>
                <a:spcPct val="20000"/>
              </a:spcAft>
              <a:buFont typeface="Arial" pitchFamily="34" charset="0"/>
              <a:buChar char="•"/>
            </a:pPr>
            <a:r>
              <a:rPr lang="en-US" altLang="en-US" sz="1200" dirty="0"/>
              <a:t>Various implementations using </a:t>
            </a:r>
            <a:r>
              <a:rPr lang="en-US" altLang="en-US" sz="1400" b="1" dirty="0"/>
              <a:t>EB-Tax</a:t>
            </a:r>
            <a:r>
              <a:rPr lang="en-US" altLang="en-US" sz="1400" dirty="0"/>
              <a:t> </a:t>
            </a:r>
            <a:r>
              <a:rPr lang="en-US" altLang="en-US" sz="1200" dirty="0"/>
              <a:t>and/or </a:t>
            </a:r>
            <a:r>
              <a:rPr lang="en-US" altLang="en-US" sz="1200" dirty="0" err="1"/>
              <a:t>Sabrix</a:t>
            </a:r>
            <a:r>
              <a:rPr lang="en-US" altLang="en-US" sz="1200" dirty="0"/>
              <a:t>/Vertex tax software.  </a:t>
            </a:r>
          </a:p>
        </p:txBody>
      </p:sp>
      <p:sp>
        <p:nvSpPr>
          <p:cNvPr id="20" name="AutoShape 19"/>
          <p:cNvSpPr>
            <a:spLocks noChangeArrowheads="1"/>
          </p:cNvSpPr>
          <p:nvPr/>
        </p:nvSpPr>
        <p:spPr bwMode="gray">
          <a:xfrm>
            <a:off x="4132270" y="846766"/>
            <a:ext cx="4851400" cy="200025"/>
          </a:xfrm>
          <a:prstGeom prst="leftRightArrow">
            <a:avLst>
              <a:gd name="adj1" fmla="val 100000"/>
              <a:gd name="adj2" fmla="val 0"/>
            </a:avLst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36000" anchor="b"/>
          <a:lstStyle/>
          <a:p>
            <a:pPr marL="195263" indent="-195263"/>
            <a:r>
              <a:rPr lang="en-US" sz="1200" b="1" dirty="0" smtClean="0">
                <a:latin typeface="Arial" charset="0"/>
                <a:cs typeface="Arial" charset="0"/>
              </a:rPr>
              <a:t>Functional Expertise</a:t>
            </a:r>
            <a:endParaRPr lang="en-US" sz="1200" b="1" dirty="0">
              <a:latin typeface="Arial" charset="0"/>
              <a:cs typeface="Arial" charset="0"/>
            </a:endParaRPr>
          </a:p>
        </p:txBody>
      </p:sp>
      <p:sp>
        <p:nvSpPr>
          <p:cNvPr id="21" name="AutoShape 19"/>
          <p:cNvSpPr>
            <a:spLocks noChangeArrowheads="1"/>
          </p:cNvSpPr>
          <p:nvPr/>
        </p:nvSpPr>
        <p:spPr bwMode="gray">
          <a:xfrm>
            <a:off x="101280" y="4570642"/>
            <a:ext cx="4852987" cy="200025"/>
          </a:xfrm>
          <a:prstGeom prst="leftRightArrow">
            <a:avLst>
              <a:gd name="adj1" fmla="val 100000"/>
              <a:gd name="adj2" fmla="val 0"/>
            </a:avLst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36000" anchor="b"/>
          <a:lstStyle>
            <a:defPPr>
              <a:defRPr lang="en-AU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195263" indent="-195263"/>
            <a:r>
              <a:rPr lang="en-US" sz="1200" b="1" dirty="0"/>
              <a:t>Areas of Expertise</a:t>
            </a:r>
          </a:p>
        </p:txBody>
      </p:sp>
      <p:sp>
        <p:nvSpPr>
          <p:cNvPr id="22" name="AutoShape 18"/>
          <p:cNvSpPr>
            <a:spLocks noChangeArrowheads="1"/>
          </p:cNvSpPr>
          <p:nvPr/>
        </p:nvSpPr>
        <p:spPr bwMode="gray">
          <a:xfrm>
            <a:off x="275000" y="850946"/>
            <a:ext cx="3530600" cy="200025"/>
          </a:xfrm>
          <a:prstGeom prst="leftRightArrow">
            <a:avLst>
              <a:gd name="adj1" fmla="val 100000"/>
              <a:gd name="adj2" fmla="val 0"/>
            </a:avLst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36000" anchor="b"/>
          <a:lstStyle/>
          <a:p>
            <a:pPr marL="195263" indent="-195263"/>
            <a:r>
              <a:rPr lang="en-US" sz="1200" b="1" dirty="0">
                <a:latin typeface="Arial" charset="0"/>
                <a:cs typeface="Arial" charset="0"/>
              </a:rPr>
              <a:t>Professional Background</a:t>
            </a:r>
          </a:p>
        </p:txBody>
      </p:sp>
      <p:cxnSp>
        <p:nvCxnSpPr>
          <p:cNvPr id="23" name="AutoShape 21"/>
          <p:cNvCxnSpPr>
            <a:cxnSpLocks noChangeShapeType="1"/>
          </p:cNvCxnSpPr>
          <p:nvPr/>
        </p:nvCxnSpPr>
        <p:spPr bwMode="gray">
          <a:xfrm>
            <a:off x="4077626" y="1047377"/>
            <a:ext cx="4875734" cy="2618"/>
          </a:xfrm>
          <a:prstGeom prst="straightConnector1">
            <a:avLst/>
          </a:prstGeom>
          <a:noFill/>
          <a:ln w="9525">
            <a:solidFill>
              <a:srgbClr val="557799"/>
            </a:solidFill>
            <a:round/>
            <a:headEnd/>
            <a:tailEnd/>
          </a:ln>
        </p:spPr>
      </p:cxnSp>
      <p:cxnSp>
        <p:nvCxnSpPr>
          <p:cNvPr id="25" name="AutoShape 21"/>
          <p:cNvCxnSpPr>
            <a:cxnSpLocks noChangeShapeType="1"/>
          </p:cNvCxnSpPr>
          <p:nvPr/>
        </p:nvCxnSpPr>
        <p:spPr bwMode="gray">
          <a:xfrm>
            <a:off x="18155" y="4766538"/>
            <a:ext cx="3787445" cy="0"/>
          </a:xfrm>
          <a:prstGeom prst="straightConnector1">
            <a:avLst/>
          </a:prstGeom>
          <a:noFill/>
          <a:ln w="9525">
            <a:solidFill>
              <a:srgbClr val="557799"/>
            </a:solidFill>
            <a:round/>
            <a:headEnd/>
            <a:tailEnd/>
          </a:ln>
        </p:spPr>
      </p:cxnSp>
      <p:cxnSp>
        <p:nvCxnSpPr>
          <p:cNvPr id="26" name="AutoShape 21"/>
          <p:cNvCxnSpPr>
            <a:cxnSpLocks noChangeShapeType="1"/>
            <a:endCxn id="22" idx="6"/>
          </p:cNvCxnSpPr>
          <p:nvPr/>
        </p:nvCxnSpPr>
        <p:spPr bwMode="gray">
          <a:xfrm flipV="1">
            <a:off x="244428" y="1050971"/>
            <a:ext cx="3561172" cy="1118"/>
          </a:xfrm>
          <a:prstGeom prst="straightConnector1">
            <a:avLst/>
          </a:prstGeom>
          <a:noFill/>
          <a:ln w="9525">
            <a:solidFill>
              <a:srgbClr val="557799"/>
            </a:solidFill>
            <a:round/>
            <a:headEnd/>
            <a:tailEnd/>
          </a:ln>
        </p:spPr>
      </p:cxnSp>
      <p:sp>
        <p:nvSpPr>
          <p:cNvPr id="27" name="Title 2"/>
          <p:cNvSpPr>
            <a:spLocks noGrp="1"/>
          </p:cNvSpPr>
          <p:nvPr>
            <p:ph type="title"/>
          </p:nvPr>
        </p:nvSpPr>
        <p:spPr>
          <a:xfrm>
            <a:off x="186263" y="107950"/>
            <a:ext cx="5751399" cy="443089"/>
          </a:xfrm>
        </p:spPr>
        <p:txBody>
          <a:bodyPr/>
          <a:lstStyle/>
          <a:p>
            <a:r>
              <a:rPr lang="en-US" sz="1800" dirty="0" smtClean="0">
                <a:solidFill>
                  <a:schemeClr val="bg1"/>
                </a:solidFill>
              </a:rPr>
              <a:t>Saurabh Bhatia – Lead Consultant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182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AutoShape 21"/>
          <p:cNvCxnSpPr>
            <a:cxnSpLocks noChangeShapeType="1"/>
          </p:cNvCxnSpPr>
          <p:nvPr/>
        </p:nvCxnSpPr>
        <p:spPr bwMode="gray">
          <a:xfrm>
            <a:off x="244428" y="1100565"/>
            <a:ext cx="8768943" cy="0"/>
          </a:xfrm>
          <a:prstGeom prst="straightConnector1">
            <a:avLst/>
          </a:prstGeom>
          <a:noFill/>
          <a:ln w="9525">
            <a:solidFill>
              <a:srgbClr val="557799"/>
            </a:solidFill>
            <a:round/>
            <a:headEnd/>
            <a:tailEnd/>
          </a:ln>
        </p:spPr>
      </p:cxnSp>
      <p:sp>
        <p:nvSpPr>
          <p:cNvPr id="27" name="Title 2"/>
          <p:cNvSpPr>
            <a:spLocks noGrp="1"/>
          </p:cNvSpPr>
          <p:nvPr>
            <p:ph type="title"/>
          </p:nvPr>
        </p:nvSpPr>
        <p:spPr>
          <a:xfrm>
            <a:off x="186263" y="107950"/>
            <a:ext cx="5751399" cy="443089"/>
          </a:xfrm>
        </p:spPr>
        <p:txBody>
          <a:bodyPr/>
          <a:lstStyle/>
          <a:p>
            <a:r>
              <a:rPr lang="en-US" sz="1800" dirty="0">
                <a:solidFill>
                  <a:schemeClr val="bg1"/>
                </a:solidFill>
              </a:rPr>
              <a:t>Saurabh Bhatia – Lead Consultant</a:t>
            </a:r>
          </a:p>
        </p:txBody>
      </p:sp>
      <p:sp>
        <p:nvSpPr>
          <p:cNvPr id="2" name="Rectangle 1"/>
          <p:cNvSpPr/>
          <p:nvPr/>
        </p:nvSpPr>
        <p:spPr>
          <a:xfrm>
            <a:off x="4512623" y="1169955"/>
            <a:ext cx="4405745" cy="4883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Facilitate the translation of business requirements into detailed functional requirements within EBS and work with other IT staff to arrive at optimal best practice solutions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Develop ad-hoc queries or reports to address operating needs of end-users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Provide training and support to Finance end users for application functionality, enhancements, upgrades and improvements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Research, analyze, recommend and execute improvements to current processes and systems.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Develop, coordinate, and implement test plans for functional changes, bug fixes, enhancements, patches and upgrades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Configure, modify and develop accounting rules, application configurations and integrations within the Oracle Financial modules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Analyze data, design and integration points to upstream and downstream applications that feed into and require data from Financial applications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Provided </a:t>
            </a:r>
            <a:r>
              <a:rPr lang="en-US" sz="1200" dirty="0"/>
              <a:t>solution direction for Procure to Pay  (P2P) processes being implemented on an already existing 12.1.3 Global footprint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Developed Test Plan / Test Cases and conducted User Acceptance Testing (UAT) sessions in various modules to monitor and approve patches and bug fixes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Defined </a:t>
            </a:r>
            <a:r>
              <a:rPr lang="en-US" sz="1200" dirty="0"/>
              <a:t>additional rules using Approval Management Engine (AME) to improve PO to AP alerts.   </a:t>
            </a:r>
          </a:p>
        </p:txBody>
      </p:sp>
      <p:sp>
        <p:nvSpPr>
          <p:cNvPr id="6" name="AutoShape 18"/>
          <p:cNvSpPr>
            <a:spLocks noChangeArrowheads="1"/>
          </p:cNvSpPr>
          <p:nvPr/>
        </p:nvSpPr>
        <p:spPr bwMode="gray">
          <a:xfrm>
            <a:off x="4628899" y="851797"/>
            <a:ext cx="4579641" cy="200596"/>
          </a:xfrm>
          <a:prstGeom prst="leftRightArrow">
            <a:avLst>
              <a:gd name="adj1" fmla="val 100000"/>
              <a:gd name="adj2" fmla="val 0"/>
            </a:avLst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36000" anchor="b"/>
          <a:lstStyle/>
          <a:p>
            <a:pPr marL="195263" indent="-195263"/>
            <a:r>
              <a:rPr lang="en-US" sz="1200" b="1" dirty="0" smtClean="0">
                <a:latin typeface="Arial" charset="0"/>
                <a:cs typeface="Arial" charset="0"/>
              </a:rPr>
              <a:t>CGG </a:t>
            </a:r>
            <a:r>
              <a:rPr lang="en-US" sz="1200" b="1" dirty="0" smtClean="0">
                <a:latin typeface="Arial" charset="0"/>
                <a:cs typeface="Arial" charset="0"/>
              </a:rPr>
              <a:t>Veritas</a:t>
            </a:r>
            <a:endParaRPr lang="en-US" sz="1200" b="1" dirty="0">
              <a:latin typeface="Arial" charset="0"/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8950" y="1169955"/>
            <a:ext cx="4271170" cy="55984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AU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95250" indent="-95250">
              <a:spcAft>
                <a:spcPct val="20000"/>
              </a:spcAft>
              <a:buFont typeface="Arial" pitchFamily="34" charset="0"/>
              <a:buChar char="•"/>
            </a:pPr>
            <a:r>
              <a:rPr lang="en-US" altLang="en-US" sz="1200" dirty="0" smtClean="0"/>
              <a:t>Led </a:t>
            </a:r>
            <a:r>
              <a:rPr lang="en-US" altLang="en-US" sz="1200" dirty="0" smtClean="0"/>
              <a:t>a team of functional and technical consultants to design new business processes and improve existing processes</a:t>
            </a:r>
          </a:p>
          <a:p>
            <a:pPr marL="95250" indent="-95250">
              <a:spcAft>
                <a:spcPct val="20000"/>
              </a:spcAft>
              <a:buFont typeface="Arial" pitchFamily="34" charset="0"/>
              <a:buChar char="•"/>
            </a:pPr>
            <a:r>
              <a:rPr lang="en-US" altLang="en-US" sz="1200" dirty="0" smtClean="0"/>
              <a:t>Facilitate the translation of business requirements into detailed functional requirements within EBS and co-ordinate with on-site and off-shore IT teams to arrive at optimal best practice solutions</a:t>
            </a:r>
          </a:p>
          <a:p>
            <a:pPr marL="95250" indent="-95250">
              <a:spcAft>
                <a:spcPct val="20000"/>
              </a:spcAft>
              <a:buFont typeface="Arial" pitchFamily="34" charset="0"/>
              <a:buChar char="•"/>
            </a:pPr>
            <a:r>
              <a:rPr lang="en-US" altLang="en-US" sz="1200" dirty="0" smtClean="0"/>
              <a:t>Design and configure applications to best suit the customer needs</a:t>
            </a:r>
          </a:p>
          <a:p>
            <a:pPr marL="95250" indent="-95250">
              <a:spcAft>
                <a:spcPct val="20000"/>
              </a:spcAft>
              <a:buFont typeface="Arial" pitchFamily="34" charset="0"/>
              <a:buChar char="•"/>
            </a:pPr>
            <a:r>
              <a:rPr lang="en-US" altLang="en-US" sz="1200" dirty="0" smtClean="0"/>
              <a:t>Provide solutions and support across financial modules including General Ledger, Purchasing, Accounts Payable, Fixed Assets, and </a:t>
            </a:r>
            <a:r>
              <a:rPr lang="en-US" altLang="en-US" sz="1200" dirty="0" err="1" smtClean="0"/>
              <a:t>Subledger</a:t>
            </a:r>
            <a:r>
              <a:rPr lang="en-US" altLang="en-US" sz="1200" dirty="0" smtClean="0"/>
              <a:t> Accounting.  </a:t>
            </a:r>
          </a:p>
          <a:p>
            <a:pPr marL="95250" indent="-95250">
              <a:spcAft>
                <a:spcPct val="20000"/>
              </a:spcAft>
              <a:buFont typeface="Arial" pitchFamily="34" charset="0"/>
              <a:buChar char="•"/>
            </a:pPr>
            <a:r>
              <a:rPr lang="en-US" altLang="en-US" sz="1200" dirty="0" smtClean="0"/>
              <a:t>Subject matter expert (SME) for Oracle Approval Management Engine (AME) throughout Oracle Applications.  </a:t>
            </a:r>
          </a:p>
          <a:p>
            <a:pPr marL="95250" indent="-95250">
              <a:spcAft>
                <a:spcPct val="20000"/>
              </a:spcAft>
              <a:buFont typeface="Arial" pitchFamily="34" charset="0"/>
              <a:buChar char="•"/>
            </a:pPr>
            <a:r>
              <a:rPr lang="en-US" altLang="en-US" sz="1200" dirty="0" smtClean="0"/>
              <a:t>Led efforts for designing test-cases during implementation and upgrade.  </a:t>
            </a:r>
          </a:p>
          <a:p>
            <a:pPr marL="95250" indent="-95250">
              <a:spcAft>
                <a:spcPct val="20000"/>
              </a:spcAft>
              <a:buFont typeface="Arial" pitchFamily="34" charset="0"/>
              <a:buChar char="•"/>
            </a:pPr>
            <a:r>
              <a:rPr lang="en-US" altLang="en-US" sz="1200" dirty="0" smtClean="0"/>
              <a:t>Interact and maintain relationships with all levels of business owners and users during the various stages of project lifecycle</a:t>
            </a:r>
          </a:p>
          <a:p>
            <a:pPr marL="95250" indent="-95250">
              <a:spcAft>
                <a:spcPct val="20000"/>
              </a:spcAft>
              <a:buFont typeface="Arial" pitchFamily="34" charset="0"/>
              <a:buChar char="•"/>
            </a:pPr>
            <a:r>
              <a:rPr lang="en-US" altLang="en-US" sz="1200" dirty="0" smtClean="0"/>
              <a:t>Hold training sessions and conference calls with business teams to provide support for new implementations, interfaces, and month end closing processes</a:t>
            </a:r>
          </a:p>
          <a:p>
            <a:pPr marL="95250" indent="-95250">
              <a:spcAft>
                <a:spcPct val="20000"/>
              </a:spcAft>
              <a:buFont typeface="Arial" pitchFamily="34" charset="0"/>
              <a:buChar char="•"/>
            </a:pPr>
            <a:r>
              <a:rPr lang="en-US" altLang="en-US" sz="1200" dirty="0" smtClean="0"/>
              <a:t>Work with Oracle Support and hold OWC (Oracle Web Conferences) to troubleshoot issues throughout Oracle Applications.  </a:t>
            </a:r>
          </a:p>
          <a:p>
            <a:pPr marL="95250" indent="-95250">
              <a:spcAft>
                <a:spcPct val="20000"/>
              </a:spcAft>
              <a:buFont typeface="Arial" pitchFamily="34" charset="0"/>
              <a:buChar char="•"/>
            </a:pPr>
            <a:endParaRPr lang="en-US" altLang="en-US" sz="1100" dirty="0" smtClean="0"/>
          </a:p>
          <a:p>
            <a:pPr marL="95250" indent="-95250">
              <a:spcAft>
                <a:spcPct val="20000"/>
              </a:spcAft>
              <a:buFont typeface="Arial" pitchFamily="34" charset="0"/>
              <a:buChar char="•"/>
            </a:pPr>
            <a:endParaRPr lang="en-US" altLang="en-US" sz="1100" dirty="0" smtClean="0"/>
          </a:p>
        </p:txBody>
      </p:sp>
      <p:sp>
        <p:nvSpPr>
          <p:cNvPr id="8" name="AutoShape 19"/>
          <p:cNvSpPr>
            <a:spLocks noChangeArrowheads="1"/>
          </p:cNvSpPr>
          <p:nvPr/>
        </p:nvSpPr>
        <p:spPr bwMode="gray">
          <a:xfrm>
            <a:off x="222962" y="852368"/>
            <a:ext cx="3209007" cy="200025"/>
          </a:xfrm>
          <a:prstGeom prst="leftRightArrow">
            <a:avLst>
              <a:gd name="adj1" fmla="val 100000"/>
              <a:gd name="adj2" fmla="val 0"/>
            </a:avLst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36000" anchor="b"/>
          <a:lstStyle/>
          <a:p>
            <a:pPr marL="195263" indent="-195263"/>
            <a:r>
              <a:rPr lang="en-US" sz="1200" b="1" dirty="0" smtClean="0">
                <a:latin typeface="Arial" charset="0"/>
                <a:cs typeface="Arial" charset="0"/>
              </a:rPr>
              <a:t>Synchrony Financial (formerly GE Capital)</a:t>
            </a:r>
            <a:endParaRPr lang="en-US" sz="1200" b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960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AutoShape 21"/>
          <p:cNvCxnSpPr>
            <a:cxnSpLocks noChangeShapeType="1"/>
          </p:cNvCxnSpPr>
          <p:nvPr/>
        </p:nvCxnSpPr>
        <p:spPr bwMode="gray">
          <a:xfrm>
            <a:off x="244428" y="1100565"/>
            <a:ext cx="8768943" cy="0"/>
          </a:xfrm>
          <a:prstGeom prst="straightConnector1">
            <a:avLst/>
          </a:prstGeom>
          <a:noFill/>
          <a:ln w="9525">
            <a:solidFill>
              <a:srgbClr val="557799"/>
            </a:solidFill>
            <a:round/>
            <a:headEnd/>
            <a:tailEnd/>
          </a:ln>
        </p:spPr>
      </p:cxnSp>
      <p:sp>
        <p:nvSpPr>
          <p:cNvPr id="27" name="Title 2"/>
          <p:cNvSpPr>
            <a:spLocks noGrp="1"/>
          </p:cNvSpPr>
          <p:nvPr>
            <p:ph type="title"/>
          </p:nvPr>
        </p:nvSpPr>
        <p:spPr>
          <a:xfrm>
            <a:off x="186263" y="107950"/>
            <a:ext cx="5751399" cy="443089"/>
          </a:xfrm>
        </p:spPr>
        <p:txBody>
          <a:bodyPr/>
          <a:lstStyle/>
          <a:p>
            <a:r>
              <a:rPr lang="en-US" sz="1800" dirty="0">
                <a:solidFill>
                  <a:schemeClr val="bg1"/>
                </a:solidFill>
              </a:rPr>
              <a:t>Saurabh Bhatia – Lead Consultant</a:t>
            </a:r>
          </a:p>
        </p:txBody>
      </p:sp>
      <p:sp>
        <p:nvSpPr>
          <p:cNvPr id="2" name="Rectangle 1"/>
          <p:cNvSpPr/>
          <p:nvPr/>
        </p:nvSpPr>
        <p:spPr>
          <a:xfrm>
            <a:off x="4512623" y="1169955"/>
            <a:ext cx="4405745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Defined </a:t>
            </a:r>
            <a:r>
              <a:rPr lang="en-US" sz="1200" dirty="0"/>
              <a:t>the Chart of Accounts, the accounting calendar and the currency for each legal entity as per the client requirement.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Created multiple responsibilities, developed security rules and customized menu to restrict user access to GL functionality as per client's requirement.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Defined formulas for Mass Allocation and Recurring Journals. Completed setup of options required to perform Mass Allocations.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Defined Budgets, Budget Organizations, Budget Formulas, and Defined Budgetary control options, Created Master/Detail budgets, Defined Mass Budgets and Mass Budget formulas.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Defined </a:t>
            </a:r>
            <a:r>
              <a:rPr lang="en-US" sz="1200" dirty="0"/>
              <a:t>setup steps of the AR module. These included System Options, Receipts, Lockbox, Quick Codes and Taxes. Exemptions were defined, as products were not subject to tax in all states.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Defined Customers, customer profile classes, payment terms, and distribution sets, and Auto Cash Rule Sets.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Defined Invoicing information including Payment Terms, Invoicing and accounting rules, Territories and Invoice Sources. 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Defined </a:t>
            </a:r>
            <a:r>
              <a:rPr lang="en-US" sz="1200" dirty="0"/>
              <a:t>receivable activities for miscellaneous receipts, finance charges, bank charges, defined collectors, and defined aging buckets.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Assigned </a:t>
            </a:r>
            <a:r>
              <a:rPr lang="en-US" sz="1200" dirty="0"/>
              <a:t>receivable account, revenue account, unbilled account, freight account, cleared account, and unearned account to transaction types</a:t>
            </a:r>
            <a:r>
              <a:rPr lang="en-US" sz="1200" dirty="0" smtClean="0"/>
              <a:t>.</a:t>
            </a:r>
            <a:r>
              <a:rPr lang="en-US" sz="1200" dirty="0"/>
              <a:t>   </a:t>
            </a:r>
          </a:p>
        </p:txBody>
      </p:sp>
      <p:sp>
        <p:nvSpPr>
          <p:cNvPr id="6" name="AutoShape 18"/>
          <p:cNvSpPr>
            <a:spLocks noChangeArrowheads="1"/>
          </p:cNvSpPr>
          <p:nvPr/>
        </p:nvSpPr>
        <p:spPr bwMode="gray">
          <a:xfrm>
            <a:off x="4628899" y="851797"/>
            <a:ext cx="4579641" cy="200596"/>
          </a:xfrm>
          <a:prstGeom prst="leftRightArrow">
            <a:avLst>
              <a:gd name="adj1" fmla="val 100000"/>
              <a:gd name="adj2" fmla="val 0"/>
            </a:avLst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36000" anchor="b"/>
          <a:lstStyle/>
          <a:p>
            <a:pPr marL="195263" indent="-195263"/>
            <a:r>
              <a:rPr lang="en-US" sz="1200" b="1" dirty="0"/>
              <a:t>Elliott Company, Jeannette, PA </a:t>
            </a:r>
            <a:endParaRPr lang="en-US" sz="1200" b="1" dirty="0">
              <a:latin typeface="Arial" charset="0"/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8950" y="1169955"/>
            <a:ext cx="4271170" cy="5078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AU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Adopted to the project since the requirement gathering stage and involved in the full life cycle of the project. 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Arial" pitchFamily="34" charset="0"/>
                <a:cs typeface="Arial" pitchFamily="34" charset="0"/>
              </a:rPr>
              <a:t>Collaborated 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with business team to configure and finalize cost center segment for chart of accounts and defining security rules.  </a:t>
            </a:r>
            <a:endParaRPr lang="en-US" sz="1200" dirty="0">
              <a:latin typeface="Arial" pitchFamily="34" charset="0"/>
              <a:cs typeface="Arial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Arial" pitchFamily="34" charset="0"/>
                <a:cs typeface="Arial" pitchFamily="34" charset="0"/>
              </a:rPr>
              <a:t>Designed 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and analyzed processes for Procure to Pay (</a:t>
            </a:r>
            <a:r>
              <a:rPr lang="en-US" sz="1200" dirty="0" smtClean="0">
                <a:latin typeface="Arial" pitchFamily="34" charset="0"/>
                <a:cs typeface="Arial" pitchFamily="34" charset="0"/>
              </a:rPr>
              <a:t>P2P)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Arial" pitchFamily="34" charset="0"/>
                <a:cs typeface="Arial" pitchFamily="34" charset="0"/>
              </a:rPr>
              <a:t>Set 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up accounting period types and accounting calendars.  </a:t>
            </a:r>
            <a:endParaRPr lang="en-US" sz="1200" dirty="0" smtClean="0">
              <a:latin typeface="Arial" pitchFamily="34" charset="0"/>
              <a:cs typeface="Arial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Arial" pitchFamily="34" charset="0"/>
                <a:cs typeface="Arial" pitchFamily="34" charset="0"/>
              </a:rPr>
              <a:t>Worked 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on inbound interfaces in PO and AP module to import the data from legacy system to Oracle </a:t>
            </a:r>
            <a:r>
              <a:rPr lang="en-US" sz="1200" dirty="0" smtClean="0">
                <a:latin typeface="Arial" pitchFamily="34" charset="0"/>
                <a:cs typeface="Arial" pitchFamily="34" charset="0"/>
              </a:rPr>
              <a:t>Application.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Arial" pitchFamily="34" charset="0"/>
                <a:cs typeface="Arial" pitchFamily="34" charset="0"/>
              </a:rPr>
              <a:t>Set 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up transaction types, invoices, guarantees, deposit, and credit memos, debit </a:t>
            </a:r>
            <a:r>
              <a:rPr lang="en-US" sz="1200" dirty="0" smtClean="0">
                <a:latin typeface="Arial" pitchFamily="34" charset="0"/>
                <a:cs typeface="Arial" pitchFamily="34" charset="0"/>
              </a:rPr>
              <a:t>memos.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Arial" pitchFamily="34" charset="0"/>
                <a:cs typeface="Arial" pitchFamily="34" charset="0"/>
              </a:rPr>
              <a:t>Set 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up Suppliers, </a:t>
            </a:r>
            <a:r>
              <a:rPr lang="en-US" sz="1200" dirty="0" smtClean="0">
                <a:latin typeface="Arial" pitchFamily="34" charset="0"/>
                <a:cs typeface="Arial" pitchFamily="34" charset="0"/>
              </a:rPr>
              <a:t>Purchase 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requisitions, Purchase orders in Oracle </a:t>
            </a:r>
            <a:r>
              <a:rPr lang="en-US" sz="1200" dirty="0" smtClean="0">
                <a:latin typeface="Arial" pitchFamily="34" charset="0"/>
                <a:cs typeface="Arial" pitchFamily="34" charset="0"/>
              </a:rPr>
              <a:t>Purchasing.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Arial" pitchFamily="34" charset="0"/>
                <a:cs typeface="Arial" pitchFamily="34" charset="0"/>
              </a:rPr>
              <a:t>Set 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up Catalogs, Stores, and Categories for </a:t>
            </a:r>
            <a:r>
              <a:rPr lang="en-US" sz="1200" dirty="0" err="1">
                <a:latin typeface="Arial" pitchFamily="34" charset="0"/>
                <a:cs typeface="Arial" pitchFamily="34" charset="0"/>
              </a:rPr>
              <a:t>iProcurement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.  </a:t>
            </a:r>
            <a:endParaRPr lang="en-US" sz="1200" dirty="0" smtClean="0">
              <a:latin typeface="Arial" pitchFamily="34" charset="0"/>
              <a:cs typeface="Arial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Arial" pitchFamily="34" charset="0"/>
                <a:cs typeface="Arial" pitchFamily="34" charset="0"/>
              </a:rPr>
              <a:t>Set 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up PO matching options, Invoice tolerances, Distributions options, Payment terms, Holds, </a:t>
            </a:r>
            <a:r>
              <a:rPr lang="en-US" sz="1200" dirty="0" smtClean="0">
                <a:latin typeface="Arial" pitchFamily="34" charset="0"/>
                <a:cs typeface="Arial" pitchFamily="34" charset="0"/>
              </a:rPr>
              <a:t>etc.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Arial" pitchFamily="34" charset="0"/>
                <a:cs typeface="Arial" pitchFamily="34" charset="0"/>
              </a:rPr>
              <a:t>Configure 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Financial, Accounting, and Purchasing options for setting up inventory organization.  </a:t>
            </a:r>
            <a:endParaRPr lang="en-US" sz="1200" dirty="0" smtClean="0">
              <a:latin typeface="Arial" pitchFamily="34" charset="0"/>
              <a:cs typeface="Arial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Arial" pitchFamily="34" charset="0"/>
                <a:cs typeface="Arial" pitchFamily="34" charset="0"/>
              </a:rPr>
              <a:t>Developed 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and maintained user training procedures and documentation and conducted presentations covering user training sessions in GL, Purchasing, and </a:t>
            </a:r>
            <a:r>
              <a:rPr lang="en-US" sz="1200" dirty="0" err="1">
                <a:latin typeface="Arial" pitchFamily="34" charset="0"/>
                <a:cs typeface="Arial" pitchFamily="34" charset="0"/>
              </a:rPr>
              <a:t>iProcurement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.   </a:t>
            </a:r>
          </a:p>
          <a:p>
            <a:pPr lvl="0"/>
            <a:r>
              <a:rPr lang="en-US" sz="1200" dirty="0">
                <a:latin typeface="Arial" pitchFamily="34" charset="0"/>
                <a:cs typeface="Arial" pitchFamily="34" charset="0"/>
              </a:rPr>
              <a:t/>
            </a:r>
            <a:br>
              <a:rPr lang="en-US" sz="1200" dirty="0">
                <a:latin typeface="Arial" pitchFamily="34" charset="0"/>
                <a:cs typeface="Arial" pitchFamily="34" charset="0"/>
              </a:rPr>
            </a:br>
            <a:endParaRPr lang="en-US" altLang="en-US" sz="1200" dirty="0">
              <a:latin typeface="Arial" pitchFamily="34" charset="0"/>
              <a:cs typeface="Arial" pitchFamily="34" charset="0"/>
            </a:endParaRPr>
          </a:p>
          <a:p>
            <a:pPr marL="95250" indent="-95250">
              <a:spcAft>
                <a:spcPct val="20000"/>
              </a:spcAft>
              <a:buFont typeface="Arial" pitchFamily="34" charset="0"/>
              <a:buChar char="•"/>
            </a:pPr>
            <a:endParaRPr lang="en-US" altLang="en-US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AutoShape 19"/>
          <p:cNvSpPr>
            <a:spLocks noChangeArrowheads="1"/>
          </p:cNvSpPr>
          <p:nvPr/>
        </p:nvSpPr>
        <p:spPr bwMode="gray">
          <a:xfrm>
            <a:off x="222962" y="852368"/>
            <a:ext cx="3209007" cy="200025"/>
          </a:xfrm>
          <a:prstGeom prst="leftRightArrow">
            <a:avLst>
              <a:gd name="adj1" fmla="val 100000"/>
              <a:gd name="adj2" fmla="val 0"/>
            </a:avLst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36000" anchor="b"/>
          <a:lstStyle/>
          <a:p>
            <a:pPr marL="195263" indent="-195263"/>
            <a:r>
              <a:rPr lang="en-US" sz="1200" b="1" dirty="0"/>
              <a:t>Pan IT, Tinley Park, IL</a:t>
            </a:r>
            <a:r>
              <a:rPr lang="en-US" sz="1200" dirty="0"/>
              <a:t> </a:t>
            </a:r>
            <a:endParaRPr lang="en-US" sz="1200" b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091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FP-template (2)">
  <a:themeElements>
    <a:clrScheme name="Custom 9">
      <a:dk1>
        <a:srgbClr val="002D78"/>
      </a:dk1>
      <a:lt1>
        <a:sysClr val="window" lastClr="FFFFFF"/>
      </a:lt1>
      <a:dk2>
        <a:srgbClr val="000000"/>
      </a:dk2>
      <a:lt2>
        <a:srgbClr val="FFFFFF"/>
      </a:lt2>
      <a:accent1>
        <a:srgbClr val="007DC3"/>
      </a:accent1>
      <a:accent2>
        <a:srgbClr val="2DB437"/>
      </a:accent2>
      <a:accent3>
        <a:srgbClr val="EB7323"/>
      </a:accent3>
      <a:accent4>
        <a:srgbClr val="5A5A5A"/>
      </a:accent4>
      <a:accent5>
        <a:srgbClr val="9BC8EB"/>
      </a:accent5>
      <a:accent6>
        <a:srgbClr val="FFCD69"/>
      </a:accent6>
      <a:hlink>
        <a:srgbClr val="156CFF"/>
      </a:hlink>
      <a:folHlink>
        <a:srgbClr val="A05019"/>
      </a:folHlink>
    </a:clrScheme>
    <a:fontScheme name="Infosys">
      <a:majorFont>
        <a:latin typeface="GillSans"/>
        <a:ea typeface=""/>
        <a:cs typeface=""/>
      </a:majorFont>
      <a:minorFont>
        <a:latin typeface="Gill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FOSYS - Section">
  <a:themeElements>
    <a:clrScheme name="INFOSYS">
      <a:dk1>
        <a:srgbClr val="193A80"/>
      </a:dk1>
      <a:lt1>
        <a:sysClr val="window" lastClr="FFFFFF"/>
      </a:lt1>
      <a:dk2>
        <a:srgbClr val="000000"/>
      </a:dk2>
      <a:lt2>
        <a:srgbClr val="FFFFFF"/>
      </a:lt2>
      <a:accent1>
        <a:srgbClr val="FF90D2"/>
      </a:accent1>
      <a:accent2>
        <a:srgbClr val="F6A3A7"/>
      </a:accent2>
      <a:accent3>
        <a:srgbClr val="92E6FF"/>
      </a:accent3>
      <a:accent4>
        <a:srgbClr val="D1E7B1"/>
      </a:accent4>
      <a:accent5>
        <a:srgbClr val="F6F8B7"/>
      </a:accent5>
      <a:accent6>
        <a:srgbClr val="F6D3A4"/>
      </a:accent6>
      <a:hlink>
        <a:srgbClr val="00B050"/>
      </a:hlink>
      <a:folHlink>
        <a:srgbClr val="800080"/>
      </a:folHlink>
    </a:clrScheme>
    <a:fontScheme name="Infosys">
      <a:majorFont>
        <a:latin typeface="GillSans"/>
        <a:ea typeface=""/>
        <a:cs typeface=""/>
      </a:majorFont>
      <a:minorFont>
        <a:latin typeface="Gill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RFP-template (2)</Template>
  <TotalTime>4344</TotalTime>
  <Words>936</Words>
  <Application>Microsoft Office PowerPoint</Application>
  <PresentationFormat>On-screen Show (4:3)</PresentationFormat>
  <Paragraphs>91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RFP-template (2)</vt:lpstr>
      <vt:lpstr>INFOSYS - Section</vt:lpstr>
      <vt:lpstr>Saurabh Bhatia – Lead Consultant</vt:lpstr>
      <vt:lpstr>Saurabh Bhatia – Lead Consultant</vt:lpstr>
      <vt:lpstr>Saurabh Bhatia – Lead Consultant</vt:lpstr>
    </vt:vector>
  </TitlesOfParts>
  <Company>Infosys Technologies Limited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Sujid Rehman</dc:creator>
  <cp:lastModifiedBy>S. Bhatia</cp:lastModifiedBy>
  <cp:revision>468</cp:revision>
  <dcterms:created xsi:type="dcterms:W3CDTF">2011-09-26T11:16:42Z</dcterms:created>
  <dcterms:modified xsi:type="dcterms:W3CDTF">2017-10-18T18:08:04Z</dcterms:modified>
</cp:coreProperties>
</file>